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6" r:id="rId6"/>
    <p:sldId id="260" r:id="rId7"/>
    <p:sldId id="275" r:id="rId8"/>
    <p:sldId id="262" r:id="rId9"/>
    <p:sldId id="263" r:id="rId10"/>
    <p:sldId id="277" r:id="rId25"/>
    <p:sldId id="270" r:id="rId11"/>
    <p:sldId id="272" r:id="rId12"/>
    <p:sldId id="271" r:id="rId13"/>
    <p:sldId id="273" r:id="rId14"/>
    <p:sldId id="274" r:id="rId15"/>
    <p:sldId id="278" r:id="rId26"/>
    <p:sldId id="279" r:id="rId27"/>
    <p:sldId id="280" r:id="rId28"/>
    <p:sldId id="281" r:id="rId29"/>
    <p:sldId id="265" r:id="rId16"/>
    <p:sldId id="266" r:id="rId17"/>
    <p:sldId id="267" r:id="rId18"/>
    <p:sldId id="268" r:id="rId1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4"/>
    <p:restoredTop sz="94664"/>
  </p:normalViewPr>
  <p:slideViewPr>
    <p:cSldViewPr snapToGrid="0" snapToObjects="1">
      <p:cViewPr varScale="1">
        <p:scale>
          <a:sx n="112" d="100"/>
          <a:sy n="112" d="100"/>
        </p:scale>
        <p:origin x="8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60FE2-FA4A-AD4E-A9F0-5AD2E79B4E6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A5241-DBBD-9D42-A261-CC778254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09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A5241-DBBD-9D42-A261-CC7782548D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5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A5241-DBBD-9D42-A261-CC7782548D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27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901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90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903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904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hustlrzz.vercel.app" TargetMode="External"/><Relationship Id="rId4" Type="http://schemas.openxmlformats.org/officeDocument/2006/relationships/hyperlink" Target="https://hustlrzz-api.onrender.com/health" TargetMode="External"/><Relationship Id="rId5" Type="http://schemas.openxmlformats.org/officeDocument/2006/relationships/hyperlink" Target="https://github.com/dgexplores/hustlrz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2473585"/>
            <a:ext cx="110642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HUSTLRZZ</a:t>
            </a:r>
            <a:r>
              <a:rPr sz="3600" b="0" dirty="0">
                <a:solidFill>
                  <a:srgbClr val="0C2744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3358799"/>
            <a:ext cx="10698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i="1" dirty="0"/>
              <a:t>A planned AI mock interview coach with voice, posture feedback and candidate-owned RAG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E5225F-11AC-4EF6-A3E9-A118B3593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9EE3B3-E589-E264-05DB-DFB74DC7EDFF}"/>
              </a:ext>
            </a:extLst>
          </p:cNvPr>
          <p:cNvSpPr txBox="1"/>
          <p:nvPr/>
        </p:nvSpPr>
        <p:spPr>
          <a:xfrm>
            <a:off x="3235212" y="1404802"/>
            <a:ext cx="6043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Project Plan &amp; Progress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4A36C2-E520-006D-D2B4-992C7628607C}"/>
              </a:ext>
            </a:extLst>
          </p:cNvPr>
          <p:cNvSpPr txBox="1"/>
          <p:nvPr/>
        </p:nvSpPr>
        <p:spPr>
          <a:xfrm>
            <a:off x="609600" y="4827692"/>
            <a:ext cx="35035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3 :</a:t>
            </a:r>
          </a:p>
          <a:p>
            <a:r>
              <a:rPr lang="en-US" dirty="0"/>
              <a:t>Arsh Yar Khan (2300140130013)</a:t>
            </a:r>
          </a:p>
          <a:p>
            <a:r>
              <a:rPr lang="en-US" dirty="0"/>
              <a:t>Deepak Gangwar (2300140130018)</a:t>
            </a:r>
          </a:p>
          <a:p>
            <a:r>
              <a:rPr lang="en-US" dirty="0"/>
              <a:t>Nikhil Singh (2300140130035)</a:t>
            </a:r>
          </a:p>
          <a:p>
            <a:r>
              <a:rPr lang="en-US" dirty="0"/>
              <a:t>Riya Rastogi (2300140130043)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13B746-14FD-6A89-5D7A-CF4A3C0FA616}"/>
              </a:ext>
            </a:extLst>
          </p:cNvPr>
          <p:cNvSpPr txBox="1"/>
          <p:nvPr/>
        </p:nvSpPr>
        <p:spPr>
          <a:xfrm>
            <a:off x="9441119" y="4827692"/>
            <a:ext cx="2983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Guide :</a:t>
            </a:r>
          </a:p>
          <a:p>
            <a:r>
              <a:rPr lang="en-US" dirty="0"/>
              <a:t>Er. Ashish Agrawal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8" y="433051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200" b="1" dirty="0">
                <a:solidFill>
                  <a:srgbClr val="0C2744"/>
                </a:solidFill>
              </a:rPr>
              <a:t>Content</a:t>
            </a:r>
            <a:endParaRPr sz="3200" b="1" dirty="0">
              <a:solidFill>
                <a:srgbClr val="0C2744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56263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C89B48"/>
                </a:solidFill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0472" y="1499615"/>
            <a:ext cx="4425696" cy="61222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578988"/>
            <a:ext cx="37033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dirty="0"/>
              <a:t>Motivation &amp;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556263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89B48"/>
                </a:solidFill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85432" y="1499615"/>
            <a:ext cx="4425696" cy="706513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3448" y="1525119"/>
            <a:ext cx="404164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dirty="0"/>
              <a:t>Product workflow &amp;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26110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89B48"/>
                </a:solidFill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2569463"/>
            <a:ext cx="4361687" cy="70651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2646872"/>
            <a:ext cx="44256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400" dirty="0"/>
              <a:t>Architecture </a:t>
            </a:r>
            <a:endParaRPr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6446520" y="2626110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89B48"/>
                </a:solidFill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5432" y="2569463"/>
            <a:ext cx="4361688" cy="69936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77455" y="2635810"/>
            <a:ext cx="37033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dirty="0"/>
              <a:t>Tools &amp;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95958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89B48"/>
                </a:solidFill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90472" y="3639311"/>
            <a:ext cx="4425696" cy="70651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3761734"/>
            <a:ext cx="37033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400" dirty="0"/>
              <a:t>Current progress</a:t>
            </a:r>
            <a:endParaRPr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446520" y="3695958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89B48"/>
                </a:solidFill>
              </a:rPr>
              <a:t>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85432" y="3639310"/>
            <a:ext cx="4425696" cy="70651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4765807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89B48"/>
                </a:solidFill>
              </a:rP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90471" y="4725100"/>
            <a:ext cx="4425696" cy="64922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85432" y="3709014"/>
            <a:ext cx="37033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dirty="0"/>
              <a:t>Product screens — UI 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801113"/>
            <a:ext cx="37033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400" dirty="0"/>
              <a:t>Next enhancements</a:t>
            </a:r>
            <a:endParaRPr sz="2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6280AFB-FE4E-8BFC-7531-5792CCBA3B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709910" y="310649"/>
            <a:ext cx="1482090" cy="70717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05E592B-6AF5-9844-884A-B9C044254A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  <p:sp>
        <p:nvSpPr>
          <p:cNvPr id="33" name="TextBox 24"/>
          <p:cNvSpPr txBox="1"/>
          <p:nvPr/>
        </p:nvSpPr>
        <p:spPr>
          <a:xfrm>
            <a:off x="6446520" y="4765807"/>
            <a:ext cx="43891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89B48"/>
                </a:solidFill>
              </a:rPr>
              <a:t>08</a:t>
            </a:r>
          </a:p>
        </p:txBody>
      </p:sp>
      <p:sp>
        <p:nvSpPr>
          <p:cNvPr id="34" name="Rounded Rectangle 25"/>
          <p:cNvSpPr/>
          <p:nvPr/>
        </p:nvSpPr>
        <p:spPr>
          <a:xfrm>
            <a:off x="6885431" y="4725100"/>
            <a:ext cx="4425696" cy="64922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29"/>
          <p:cNvSpPr txBox="1"/>
          <p:nvPr/>
        </p:nvSpPr>
        <p:spPr>
          <a:xfrm>
            <a:off x="6949440" y="4801113"/>
            <a:ext cx="37033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400" dirty="0"/>
              <a:t>Conclusion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06736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7" y="1847088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84777"/>
            <a:ext cx="4754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dirty="0">
                <a:solidFill>
                  <a:srgbClr val="0C2744"/>
                </a:solidFill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276" y="1714083"/>
            <a:ext cx="233172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0C2744"/>
                </a:solidFill>
              </a:rPr>
              <a:t>Feedback-free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8740"/>
            <a:ext cx="288036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/>
              <a:t>Static question banks rarely provide role-specific probing or evidence-based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64592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08576" y="1847088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5117" y="1886266"/>
            <a:ext cx="47548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2000" dirty="0">
                <a:solidFill>
                  <a:srgbClr val="0C2744"/>
                </a:solidFill>
              </a:rPr>
              <a:t>!</a:t>
            </a:r>
          </a:p>
          <a:p>
            <a:pPr algn="ctr"/>
            <a:endParaRPr sz="2000" dirty="0">
              <a:solidFill>
                <a:srgbClr val="0C2744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81566" y="1716453"/>
            <a:ext cx="233172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0C2744"/>
                </a:solidFill>
              </a:rPr>
              <a:t>Single-dimension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018740"/>
            <a:ext cx="288036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/>
              <a:t>Many tools focus only on answer content and miss delivery, posture and eye contact.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4592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75904" y="1847088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8764" y="1856501"/>
            <a:ext cx="47548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2000" dirty="0">
                <a:solidFill>
                  <a:srgbClr val="0C2744"/>
                </a:solidFill>
              </a:rPr>
              <a:t>!</a:t>
            </a:r>
          </a:p>
          <a:p>
            <a:pPr algn="ctr"/>
            <a:endParaRPr sz="2000" dirty="0">
              <a:solidFill>
                <a:srgbClr val="0C27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97112" y="1714082"/>
            <a:ext cx="233172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0C2744"/>
                </a:solidFill>
              </a:rPr>
              <a:t>No private interviewer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864853"/>
            <a:ext cx="2880360" cy="1631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/>
              <a:t>Candidates need an affordable, always-available space to practice under realistic pressure.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C495BBA-A173-8744-A60D-3604700C20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3907" y="0"/>
            <a:ext cx="2178093" cy="10392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7F56F7-6347-084C-ABAA-C42E94F514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9385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3108" y="719806"/>
            <a:ext cx="956935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sz="1600" dirty="0"/>
              <a:t>Current automated preparation tools do not connect the candidate’s real context with a live, multi-dimensional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6052" y="129632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4800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844856"/>
            <a:ext cx="41605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/>
              <a:t>Automated preparation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169" y="2658935"/>
            <a:ext cx="1828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C89B4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90426"/>
            <a:ext cx="356616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>
                <a:solidFill>
                  <a:srgbClr val="0C2744"/>
                </a:solidFill>
              </a:rPr>
              <a:t>Static question banks — no resume or role adaptation</a:t>
            </a:r>
            <a:endParaRPr lang="en-US" sz="2000" dirty="0">
              <a:solidFill>
                <a:srgbClr val="0C274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9279" y="3317710"/>
            <a:ext cx="1828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C89B48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41018"/>
            <a:ext cx="356616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lang="en-US" sz="2000" dirty="0">
              <a:solidFill>
                <a:srgbClr val="0C2744"/>
              </a:solidFill>
            </a:endParaRPr>
          </a:p>
          <a:p>
            <a:pPr algn="l"/>
            <a:r>
              <a:rPr sz="2000" dirty="0">
                <a:solidFill>
                  <a:srgbClr val="0C2744"/>
                </a:solidFill>
              </a:rPr>
              <a:t>Keyword matching — limited understanding of depth and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169" y="4278094"/>
            <a:ext cx="1828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C89B48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845"/>
            <a:ext cx="35661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lang="en-US" sz="2000" dirty="0">
              <a:solidFill>
                <a:srgbClr val="0C2744"/>
              </a:solidFill>
            </a:endParaRPr>
          </a:p>
          <a:p>
            <a:pPr algn="l"/>
            <a:r>
              <a:rPr sz="2000" dirty="0">
                <a:solidFill>
                  <a:srgbClr val="0C2744"/>
                </a:solidFill>
              </a:rPr>
              <a:t>No live feedback on non-verbal cues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217905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660190"/>
            <a:ext cx="5138928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2650" y="1844856"/>
            <a:ext cx="4572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/>
              <a:t>Our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590532"/>
            <a:ext cx="3977639" cy="1631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dirty="0">
                <a:solidFill>
                  <a:srgbClr val="0C2744"/>
                </a:solidFill>
              </a:rPr>
              <a:t>Generate role-specific questions from the candidate’s own context → conduct a real-time conversational interview → score answers → track posture in parallel.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93BA93-E17F-7F38-F5FD-022BE9265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732770" y="-6454"/>
            <a:ext cx="1459230" cy="6962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D1A8F1-1648-5249-8CAB-B7D2F8436B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49B937-C1B6-EFF6-E752-A521F81BC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61073"/>
              </p:ext>
            </p:extLst>
          </p:nvPr>
        </p:nvGraphicFramePr>
        <p:xfrm>
          <a:off x="2164731" y="1769506"/>
          <a:ext cx="7146258" cy="1032237"/>
        </p:xfrm>
        <a:graphic>
          <a:graphicData uri="http://schemas.openxmlformats.org/drawingml/2006/table">
            <a:tbl>
              <a:tblPr/>
              <a:tblGrid>
                <a:gridCol w="2382086">
                  <a:extLst>
                    <a:ext uri="{9D8B030D-6E8A-4147-A177-3AD203B41FA5}">
                      <a16:colId xmlns:a16="http://schemas.microsoft.com/office/drawing/2014/main" val="4027692740"/>
                    </a:ext>
                  </a:extLst>
                </a:gridCol>
                <a:gridCol w="2382086">
                  <a:extLst>
                    <a:ext uri="{9D8B030D-6E8A-4147-A177-3AD203B41FA5}">
                      <a16:colId xmlns:a16="http://schemas.microsoft.com/office/drawing/2014/main" val="4161621040"/>
                    </a:ext>
                  </a:extLst>
                </a:gridCol>
                <a:gridCol w="2382086">
                  <a:extLst>
                    <a:ext uri="{9D8B030D-6E8A-4147-A177-3AD203B41FA5}">
                      <a16:colId xmlns:a16="http://schemas.microsoft.com/office/drawing/2014/main" val="1016473824"/>
                    </a:ext>
                  </a:extLst>
                </a:gridCol>
              </a:tblGrid>
              <a:tr h="1032237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9096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DA9880-B75C-1A12-B443-3E86A9D41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506810"/>
              </p:ext>
            </p:extLst>
          </p:nvPr>
        </p:nvGraphicFramePr>
        <p:xfrm>
          <a:off x="2377440" y="1394036"/>
          <a:ext cx="7409814" cy="502139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488142">
                  <a:extLst>
                    <a:ext uri="{9D8B030D-6E8A-4147-A177-3AD203B41FA5}">
                      <a16:colId xmlns:a16="http://schemas.microsoft.com/office/drawing/2014/main" val="2379757760"/>
                    </a:ext>
                  </a:extLst>
                </a:gridCol>
                <a:gridCol w="2460836">
                  <a:extLst>
                    <a:ext uri="{9D8B030D-6E8A-4147-A177-3AD203B41FA5}">
                      <a16:colId xmlns:a16="http://schemas.microsoft.com/office/drawing/2014/main" val="1536415776"/>
                    </a:ext>
                  </a:extLst>
                </a:gridCol>
                <a:gridCol w="2460836">
                  <a:extLst>
                    <a:ext uri="{9D8B030D-6E8A-4147-A177-3AD203B41FA5}">
                      <a16:colId xmlns:a16="http://schemas.microsoft.com/office/drawing/2014/main" val="906715970"/>
                    </a:ext>
                  </a:extLst>
                </a:gridCol>
              </a:tblGrid>
              <a:tr h="99165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Literature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Key Finding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Gap Identified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543352510"/>
                  </a:ext>
                </a:extLst>
              </a:tr>
              <a:tr h="991659">
                <a:tc>
                  <a:txBody>
                    <a:bodyPr/>
                    <a:lstStyle/>
                    <a:p>
                      <a:r>
                        <a:rPr lang="en-IN" sz="1600" b="1" dirty="0"/>
                        <a:t>Lewis et al. (2020) – RAG</a:t>
                      </a:r>
                      <a:endParaRPr lang="en-IN" sz="1600" dirty="0"/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Retrieval improves LLM grounding using external knowledge.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Not personalized for interview coaching.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656661571"/>
                  </a:ext>
                </a:extLst>
              </a:tr>
              <a:tr h="991659"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BlazePose</a:t>
                      </a:r>
                      <a:r>
                        <a:rPr lang="en-IN" sz="1600" b="1" dirty="0"/>
                        <a:t> (2020)</a:t>
                      </a:r>
                      <a:endParaRPr lang="en-IN" sz="1600" dirty="0"/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Enables real-time on-device pose estimation.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Not interview-specific.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63158442"/>
                  </a:ext>
                </a:extLst>
              </a:tr>
              <a:tr h="991659"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Yoodli</a:t>
                      </a:r>
                      <a:r>
                        <a:rPr lang="en-IN" sz="1600" b="1" dirty="0"/>
                        <a:t> (2026)</a:t>
                      </a:r>
                      <a:endParaRPr lang="en-IN" sz="1600" dirty="0"/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AI-based interview and communication coaching.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Focuses strongly on speech/communication coaching.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69854150"/>
                  </a:ext>
                </a:extLst>
              </a:tr>
              <a:tr h="991659"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PolyInterview</a:t>
                      </a:r>
                      <a:r>
                        <a:rPr lang="en-IN" sz="1600" b="1" dirty="0"/>
                        <a:t> (2026)</a:t>
                      </a:r>
                      <a:endParaRPr lang="en-IN" sz="1600" dirty="0"/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CV/JD-based multimodal mock interviews with content, vocal and non-verbal assessment.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Leaves room for different privacy/RAG architecture and candidate-owned longitudinal context.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6814240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CAC6D8-B522-B41E-E7D9-BFA192787A29}"/>
              </a:ext>
            </a:extLst>
          </p:cNvPr>
          <p:cNvSpPr txBox="1"/>
          <p:nvPr/>
        </p:nvSpPr>
        <p:spPr>
          <a:xfrm>
            <a:off x="262890" y="150178"/>
            <a:ext cx="3177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Literature Review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B4D272-F081-5F1B-3E26-823706E53232}"/>
              </a:ext>
            </a:extLst>
          </p:cNvPr>
          <p:cNvSpPr/>
          <p:nvPr/>
        </p:nvSpPr>
        <p:spPr>
          <a:xfrm>
            <a:off x="358902" y="734953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F43103-E33A-EB93-15A2-4A333BC161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0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52265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How</a:t>
            </a:r>
            <a:r>
              <a:rPr sz="3200" b="0" dirty="0">
                <a:solidFill>
                  <a:srgbClr val="0C2744"/>
                </a:solidFill>
              </a:rPr>
              <a:t> </a:t>
            </a:r>
            <a:r>
              <a:rPr sz="3200" b="1" dirty="0">
                <a:solidFill>
                  <a:srgbClr val="0C2744"/>
                </a:solidFill>
              </a:rPr>
              <a:t>It</a:t>
            </a:r>
            <a:r>
              <a:rPr sz="3200" b="0" dirty="0">
                <a:solidFill>
                  <a:srgbClr val="0C2744"/>
                </a:solidFill>
              </a:rPr>
              <a:t> </a:t>
            </a:r>
            <a:r>
              <a:rPr sz="3200" b="1" dirty="0">
                <a:solidFill>
                  <a:srgbClr val="0C2744"/>
                </a:solidFill>
              </a:rPr>
              <a:t>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08760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422" y="2680398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0C2744"/>
                </a:solidFill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706" y="3574049"/>
            <a:ext cx="217165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Resume (text/PDF) + job description → personalized questions, model answers and company-match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961873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6552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8214" y="2680398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C2744"/>
                </a:solidFill>
              </a:rPr>
              <a:t>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98" y="3560317"/>
            <a:ext cx="217165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A WebSocket interviewer asks questions live; the candidate responds by typing or speaking.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961873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24344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24344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6006" y="2680398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C2744"/>
                </a:solidFill>
              </a:rPr>
              <a:t>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90" y="3560317"/>
            <a:ext cx="217165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The interviewer can follow up; the completed transcript becomes a structured scored report.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961873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32136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32136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665139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0C2744"/>
                </a:solidFill>
              </a:rPr>
              <a:t>Parallel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3798" y="3522527"/>
            <a:ext cx="217165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In-browser body-language tracking runs while the candidate answers.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1D7BE10-C948-830B-DF32-69214A4CC4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610873" y="-6453"/>
            <a:ext cx="1581127" cy="75443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292608" y="5760720"/>
            <a:ext cx="11292840" cy="568560"/>
          </a:xfrm>
          <a:prstGeom prst="round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b="0" dirty="0">
                <a:solidFill>
                  <a:srgbClr val="182636"/>
                </a:solidFill>
              </a:rPr>
              <a:t>In progress: candidate-owned documents and prior reports are retrieved as source-labelled context for relevant follow-ups.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6213FC3-DB63-F24E-BE79-5FC5831AB3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92024"/>
            <a:ext cx="73152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2500" b="1" dirty="0">
                <a:solidFill>
                  <a:srgbClr val="182636"/>
                </a:solidFill>
              </a:rPr>
              <a:t>Architecture — target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22376"/>
            <a:ext cx="10607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1600" b="1" dirty="0">
                <a:solidFill>
                  <a:schemeClr val="tx1"/>
                </a:solidFill>
              </a:rPr>
              <a:t>Real-time interview coaching with private browser analysis, resilient AI, and candidate-owned retrieval.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4663440" cy="1325880"/>
          </a:xfrm>
          <a:prstGeom prst="roundRect">
            <a:avLst/>
          </a:prstGeom>
          <a:solidFill>
            <a:srgbClr val="EBF6FA"/>
          </a:solidFill>
          <a:ln w="16510">
            <a:solidFill>
              <a:srgbClr val="368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" name="Rectangle 4"/>
          <p:cNvSpPr/>
          <p:nvPr/>
        </p:nvSpPr>
        <p:spPr>
          <a:xfrm>
            <a:off x="749808" y="1344168"/>
            <a:ext cx="40690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 dirty="0">
                <a:solidFill>
                  <a:srgbClr val="182636"/>
                </a:solidFill>
              </a:rPr>
              <a:t>Candidate browser  ·  private device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664207"/>
            <a:ext cx="1938528" cy="731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68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rtlCol="0" anchor="ctr"/>
          <a:lstStyle/>
          <a:p>
            <a:pPr algn="ctr"/>
            <a:r>
              <a:rPr sz="1500" b="1" dirty="0" err="1">
                <a:solidFill>
                  <a:srgbClr val="182636"/>
                </a:solidFill>
              </a:rPr>
              <a:t>Next.js</a:t>
            </a:r>
            <a:r>
              <a:rPr sz="1500" b="1" dirty="0">
                <a:solidFill>
                  <a:srgbClr val="182636"/>
                </a:solidFill>
              </a:rPr>
              <a:t> + TypeScript</a:t>
            </a:r>
          </a:p>
          <a:p>
            <a:pPr algn="ctr"/>
            <a:r>
              <a:rPr sz="950" b="1" dirty="0">
                <a:solidFill>
                  <a:srgbClr val="5C656E"/>
                </a:solidFill>
              </a:rPr>
              <a:t>Prepare · interview · report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64208"/>
            <a:ext cx="1938528" cy="73151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68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rtlCol="0" anchor="ctr"/>
          <a:lstStyle/>
          <a:p>
            <a:pPr algn="ctr"/>
            <a:r>
              <a:rPr sz="1500" b="1">
                <a:solidFill>
                  <a:srgbClr val="182636"/>
                </a:solidFill>
              </a:rPr>
              <a:t>On-device analysis</a:t>
            </a:r>
          </a:p>
          <a:p>
            <a:pPr algn="ctr"/>
            <a:r>
              <a:rPr sz="950" b="1">
                <a:solidFill>
                  <a:srgbClr val="5C656E"/>
                </a:solidFill>
              </a:rPr>
              <a:t>MediaPipe posture + Web Speech STT/TTS
Camera frames stay in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72968"/>
            <a:ext cx="4160520" cy="841248"/>
          </a:xfrm>
          <a:prstGeom prst="roundRect">
            <a:avLst/>
          </a:prstGeom>
          <a:solidFill>
            <a:srgbClr val="EDFAF6"/>
          </a:solidFill>
          <a:ln w="20320">
            <a:solidFill>
              <a:srgbClr val="128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rtlCol="0" anchor="ctr"/>
          <a:lstStyle/>
          <a:p>
            <a:pPr algn="ctr"/>
            <a:r>
              <a:rPr sz="1500" b="1">
                <a:solidFill>
                  <a:srgbClr val="182636"/>
                </a:solidFill>
              </a:rPr>
              <a:t>FastAPI application</a:t>
            </a:r>
          </a:p>
          <a:p>
            <a:pPr algn="ctr"/>
            <a:r>
              <a:rPr sz="950" b="1">
                <a:solidFill>
                  <a:srgbClr val="5C656E"/>
                </a:solidFill>
              </a:rPr>
              <a:t>REST: preparation, knowledge, coaching, history
WebSocket: live interviewer and report</a:t>
            </a:r>
          </a:p>
        </p:txBody>
      </p:sp>
      <p:sp>
        <p:nvSpPr>
          <p:cNvPr id="9" name="AI gateway"/>
          <p:cNvSpPr/>
          <p:nvPr/>
        </p:nvSpPr>
        <p:spPr>
          <a:xfrm>
            <a:off x="841248" y="4343400"/>
            <a:ext cx="2468880" cy="731520"/>
          </a:xfrm>
          <a:prstGeom prst="roundRect">
            <a:avLst/>
          </a:prstGeom>
          <a:solidFill>
            <a:srgbClr val="FFF8E8"/>
          </a:solidFill>
          <a:ln w="20320">
            <a:solidFill>
              <a:srgbClr val="B97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sz="1500" b="1">
                <a:solidFill>
                  <a:srgbClr val="182636"/>
                </a:solidFill>
              </a:rPr>
              <a:t>AI gateway</a:t>
            </a:r>
          </a:p>
          <a:p>
            <a:r>
              <a:rPr sz="950" b="0">
                <a:solidFill>
                  <a:srgbClr val="5C656E"/>
                </a:solidFill>
              </a:rPr>
              <a:t>Groq → Gemini, free tiers</a:t>
            </a:r>
            <a:br>
              <a:rPr sz="950" b="0">
                <a:solidFill>
                  <a:srgbClr val="5C656E"/>
                </a:solidFill>
              </a:rPr>
            </a:br>
            <a:r>
              <a:rPr sz="950" b="0">
                <a:solidFill>
                  <a:srgbClr val="5C656E"/>
                </a:solidFill>
              </a:rPr>
              <a:t>BYOK for paid providers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559552"/>
            <a:ext cx="2468880" cy="603504"/>
          </a:xfrm>
          <a:prstGeom prst="roundRect">
            <a:avLst/>
          </a:prstGeom>
          <a:solidFill>
            <a:srgbClr val="FAF2FF"/>
          </a:solidFill>
          <a:ln w="20320">
            <a:solidFill>
              <a:srgbClr val="7A4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rtlCol="0" anchor="ctr"/>
          <a:lstStyle/>
          <a:p>
            <a:pPr algn="ctr"/>
            <a:r>
              <a:rPr sz="1500" b="1">
                <a:solidFill>
                  <a:srgbClr val="182636"/>
                </a:solidFill>
              </a:rPr>
              <a:t>LLM providers</a:t>
            </a:r>
          </a:p>
          <a:p>
            <a:pPr algn="ctr"/>
            <a:r>
              <a:rPr sz="950" b="1">
                <a:solidFill>
                  <a:srgbClr val="5C656E"/>
                </a:solidFill>
              </a:rPr>
              <a:t>Generation · judge · Gemini 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1874519"/>
            <a:ext cx="3886200" cy="749808"/>
          </a:xfrm>
          <a:prstGeom prst="roundRect">
            <a:avLst/>
          </a:prstGeom>
          <a:solidFill>
            <a:srgbClr val="EFF7FC"/>
          </a:solidFill>
          <a:ln w="20320">
            <a:solidFill>
              <a:srgbClr val="286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rtlCol="0" anchor="ctr"/>
          <a:lstStyle/>
          <a:p>
            <a:pPr algn="ctr"/>
            <a:r>
              <a:rPr sz="1500" b="1">
                <a:solidFill>
                  <a:srgbClr val="182636"/>
                </a:solidFill>
              </a:rPr>
              <a:t>Supabase PostgreSQL</a:t>
            </a:r>
          </a:p>
          <a:p>
            <a:pPr algn="ctr"/>
            <a:r>
              <a:rPr sz="950" b="1">
                <a:solidFill>
                  <a:srgbClr val="5C656E"/>
                </a:solidFill>
              </a:rPr>
              <a:t>Auth · workflows · sessions · reports
Row-Level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3310128"/>
            <a:ext cx="3886200" cy="850392"/>
          </a:xfrm>
          <a:prstGeom prst="roundRect">
            <a:avLst/>
          </a:prstGeom>
          <a:solidFill>
            <a:srgbClr val="FAF2FF"/>
          </a:solidFill>
          <a:ln w="20320">
            <a:solidFill>
              <a:srgbClr val="965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rtlCol="0" anchor="ctr"/>
          <a:lstStyle/>
          <a:p>
            <a:pPr algn="ctr"/>
            <a:r>
              <a:rPr sz="1500" b="1">
                <a:solidFill>
                  <a:srgbClr val="182636"/>
                </a:solidFill>
              </a:rPr>
              <a:t>Candidate knowledge (RAG)</a:t>
            </a:r>
          </a:p>
          <a:p>
            <a:pPr algn="ctr"/>
            <a:r>
              <a:rPr sz="950" b="1">
                <a:solidFill>
                  <a:srgbClr val="5C656E"/>
                </a:solidFill>
              </a:rPr>
              <a:t>knowledge_documents + knowledge_chunks
pgvector similarity search · user-scoped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9168" y="4828032"/>
            <a:ext cx="3886200" cy="850392"/>
          </a:xfrm>
          <a:prstGeom prst="roundRect">
            <a:avLst/>
          </a:prstGeom>
          <a:solidFill>
            <a:srgbClr val="FFF8E8"/>
          </a:solidFill>
          <a:ln w="20320">
            <a:solidFill>
              <a:srgbClr val="B97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rtlCol="0" anchor="ctr"/>
          <a:lstStyle/>
          <a:p>
            <a:pPr algn="ctr"/>
            <a:r>
              <a:rPr sz="1500" b="1">
                <a:solidFill>
                  <a:srgbClr val="182636"/>
                </a:solidFill>
              </a:rPr>
              <a:t>Grounded interview context</a:t>
            </a:r>
          </a:p>
          <a:p>
            <a:r>
              <a:rPr sz="950" b="1">
                <a:solidFill>
                  <a:srgbClr val="5C656E"/>
                </a:solidFill>
              </a:rPr>
              <a:t>Top 5 source-labelled chunks for relevant follow-ups</a:t>
            </a:r>
            <a:br>
              <a:rPr sz="950" b="1">
                <a:solidFill>
                  <a:srgbClr val="5C656E"/>
                </a:solidFill>
              </a:rPr>
            </a:br>
            <a:r>
              <a:rPr sz="950" b="1">
                <a:solidFill>
                  <a:srgbClr val="5C656E"/>
                </a:solidFill>
              </a:rPr>
              <a:t>Non-blocking: core interview works without retrieval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395728" y="2551176"/>
            <a:ext cx="201168" cy="521207"/>
          </a:xfrm>
          <a:prstGeom prst="downArrow">
            <a:avLst/>
          </a:prstGeom>
          <a:solidFill>
            <a:srgbClr val="7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Rectangle 14"/>
          <p:cNvSpPr/>
          <p:nvPr/>
        </p:nvSpPr>
        <p:spPr>
          <a:xfrm>
            <a:off x="2596895" y="2670023"/>
            <a:ext cx="1122349" cy="4206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 dirty="0">
                <a:solidFill>
                  <a:srgbClr val="5C656E"/>
                </a:solidFill>
              </a:rPr>
              <a:t>REST + secure WebSocket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65192" y="3419856"/>
            <a:ext cx="1783080" cy="201168"/>
          </a:xfrm>
          <a:prstGeom prst="rightArrow">
            <a:avLst/>
          </a:prstGeom>
          <a:solidFill>
            <a:srgbClr val="7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" name="Rectangle 16"/>
          <p:cNvSpPr/>
          <p:nvPr/>
        </p:nvSpPr>
        <p:spPr>
          <a:xfrm>
            <a:off x="4873752" y="3172968"/>
            <a:ext cx="19659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 dirty="0">
                <a:solidFill>
                  <a:srgbClr val="5C656E"/>
                </a:solidFill>
              </a:rPr>
              <a:t>Authenticated persistence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65192" y="4151376"/>
            <a:ext cx="1783080" cy="201168"/>
          </a:xfrm>
          <a:prstGeom prst="rightArrow">
            <a:avLst/>
          </a:prstGeom>
          <a:solidFill>
            <a:srgbClr val="7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Rectangle 18"/>
          <p:cNvSpPr/>
          <p:nvPr/>
        </p:nvSpPr>
        <p:spPr>
          <a:xfrm>
            <a:off x="4873752" y="3904487"/>
            <a:ext cx="19659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 dirty="0">
                <a:solidFill>
                  <a:srgbClr val="5C656E"/>
                </a:solidFill>
              </a:rPr>
              <a:t>Index / retrieve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65192" y="5248656"/>
            <a:ext cx="1783080" cy="201168"/>
          </a:xfrm>
          <a:prstGeom prst="rightArrow">
            <a:avLst/>
          </a:prstGeom>
          <a:solidFill>
            <a:srgbClr val="7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" name="Rectangle 20"/>
          <p:cNvSpPr/>
          <p:nvPr/>
        </p:nvSpPr>
        <p:spPr>
          <a:xfrm>
            <a:off x="4873752" y="5001768"/>
            <a:ext cx="19659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 dirty="0">
                <a:solidFill>
                  <a:srgbClr val="5C656E"/>
                </a:solidFill>
              </a:rPr>
              <a:t>Bounded source context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920240" y="4050791"/>
            <a:ext cx="201168" cy="246888"/>
          </a:xfrm>
          <a:prstGeom prst="downArrow">
            <a:avLst/>
          </a:prstGeom>
          <a:solidFill>
            <a:srgbClr val="7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" name="Rectangle 22"/>
          <p:cNvSpPr/>
          <p:nvPr/>
        </p:nvSpPr>
        <p:spPr>
          <a:xfrm>
            <a:off x="2020824" y="4078224"/>
            <a:ext cx="8229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 dirty="0">
                <a:solidFill>
                  <a:srgbClr val="5C656E"/>
                </a:solidFill>
              </a:rPr>
              <a:t>AI requests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920240" y="5093208"/>
            <a:ext cx="201168" cy="420624"/>
          </a:xfrm>
          <a:prstGeom prst="downArrow">
            <a:avLst/>
          </a:prstGeom>
          <a:solidFill>
            <a:srgbClr val="7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5" name="Rectangle 24"/>
          <p:cNvSpPr/>
          <p:nvPr/>
        </p:nvSpPr>
        <p:spPr>
          <a:xfrm>
            <a:off x="2057399" y="5106924"/>
            <a:ext cx="1078992" cy="3749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1200" b="1">
                <a:solidFill>
                  <a:srgbClr val="5C656E"/>
                </a:solidFill>
              </a:rPr>
              <a:t>Provider calls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355080"/>
            <a:ext cx="10881360" cy="246888"/>
          </a:xfrm>
          <a:prstGeom prst="roundRect">
            <a:avLst/>
          </a:prstGeom>
          <a:solidFill>
            <a:srgbClr val="EA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lang="en-IN" sz="1050" b="1" dirty="0">
                <a:solidFill>
                  <a:srgbClr val="182636"/>
                </a:solidFill>
              </a:rPr>
              <a:t>Privacy and reliability by design: video never leaves the browser; RAG is user-scoped; a retrieval failure never blocks practice.</a:t>
            </a:r>
          </a:p>
        </p:txBody>
      </p:sp>
    </p:spTree>
    <p:extLst>
      <p:ext uri="{BB962C8B-B14F-4D97-AF65-F5344CB8AC3E}">
        <p14:creationId xmlns:p14="http://schemas.microsoft.com/office/powerpoint/2010/main" val="158719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97401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589578" cy="134925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7365" y="1596452"/>
            <a:ext cx="2423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000" b="1" dirty="0">
                <a:solidFill>
                  <a:srgbClr val="0C2744"/>
                </a:solidFill>
              </a:rPr>
              <a:t>    </a:t>
            </a:r>
            <a:r>
              <a:rPr sz="2000" b="1" dirty="0">
                <a:solidFill>
                  <a:srgbClr val="0C2744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345" y="2119689"/>
            <a:ext cx="408608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 err="1"/>
              <a:t>Next.js 16, React 18, Tailwind</a:t>
            </a:r>
            <a:r>
              <a:rPr dirty="0"/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554480"/>
            <a:ext cx="3496353" cy="1315922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4280" y="1633698"/>
            <a:ext cx="2423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1" dirty="0">
                <a:solidFill>
                  <a:srgbClr val="0C2744"/>
                </a:solidFill>
              </a:rPr>
              <a:t>   </a:t>
            </a:r>
            <a:r>
              <a:rPr sz="2000" b="1" dirty="0">
                <a:solidFill>
                  <a:srgbClr val="0C2744"/>
                </a:solidFill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89" y="2121318"/>
            <a:ext cx="3931251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Python 3.14, FastAPI 0.141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247887" y="1554480"/>
            <a:ext cx="3496353" cy="1315922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37423" y="1599464"/>
            <a:ext cx="2423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1" dirty="0">
                <a:solidFill>
                  <a:srgbClr val="0C2744"/>
                </a:solidFill>
              </a:rPr>
              <a:t>            </a:t>
            </a:r>
            <a:r>
              <a:rPr sz="2000" b="1" dirty="0">
                <a:solidFill>
                  <a:srgbClr val="0C2744"/>
                </a:solidFill>
              </a:rPr>
              <a:t>AI</a:t>
            </a:r>
            <a:r>
              <a:rPr lang="en-US" sz="2000" b="1" dirty="0">
                <a:solidFill>
                  <a:srgbClr val="0C2744"/>
                </a:solidFill>
              </a:rPr>
              <a:t> </a:t>
            </a:r>
            <a:endParaRPr sz="2000" b="1" dirty="0">
              <a:solidFill>
                <a:srgbClr val="0C2744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44502" y="1962333"/>
            <a:ext cx="345360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 err="1"/>
              <a:t>Free tiers only; BYOK for paid</a:t>
            </a:r>
            <a:r>
              <a:rPr dirty="0"/>
              <a:t/>
            </a:r>
            <a:r>
              <a:rPr lang="en-US" dirty="0"/>
              <a:t/>
            </a:r>
            <a:r>
              <a:rPr dirty="0"/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27248"/>
            <a:ext cx="3589578" cy="124175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8765" y="3172232"/>
            <a:ext cx="2423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1" dirty="0">
                <a:solidFill>
                  <a:srgbClr val="0C2744"/>
                </a:solidFill>
              </a:rPr>
              <a:t>        </a:t>
            </a:r>
            <a:r>
              <a:rPr sz="2000" b="1" dirty="0">
                <a:solidFill>
                  <a:srgbClr val="0C2744"/>
                </a:solidFill>
              </a:rPr>
              <a:t>Database</a:t>
            </a:r>
            <a:r>
              <a:rPr lang="en-US" sz="2000" b="1" dirty="0">
                <a:solidFill>
                  <a:srgbClr val="0C2744"/>
                </a:solidFill>
              </a:rPr>
              <a:t> </a:t>
            </a:r>
            <a:endParaRPr sz="2000" b="1" dirty="0">
              <a:solidFill>
                <a:srgbClr val="0C2744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38" y="3649362"/>
            <a:ext cx="406425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dirty="0"/>
              <a:t>Supabase Postgres + pgvector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4407408" y="3127248"/>
            <a:ext cx="3495906" cy="124175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19245" y="3172232"/>
            <a:ext cx="2423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1" dirty="0">
                <a:solidFill>
                  <a:srgbClr val="0C2744"/>
                </a:solidFill>
              </a:rPr>
              <a:t>       </a:t>
            </a:r>
            <a:r>
              <a:rPr sz="2000" b="1" dirty="0">
                <a:solidFill>
                  <a:srgbClr val="0C2744"/>
                </a:solidFill>
              </a:rPr>
              <a:t>Speech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3648554"/>
            <a:ext cx="38861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dirty="0"/>
              <a:t>Browser Web Speech API </a:t>
            </a:r>
            <a:r>
              <a:rPr lang="en-US" dirty="0"/>
              <a:t>-</a:t>
            </a:r>
            <a:r>
              <a:rPr dirty="0"/>
              <a:t> STT + TTS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7888" y="3127247"/>
            <a:ext cx="3495906" cy="1201807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59725" y="3172232"/>
            <a:ext cx="2423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1" dirty="0">
                <a:solidFill>
                  <a:srgbClr val="0C2744"/>
                </a:solidFill>
              </a:rPr>
              <a:t>  </a:t>
            </a:r>
            <a:r>
              <a:rPr sz="2000" b="1" dirty="0">
                <a:solidFill>
                  <a:srgbClr val="0C2744"/>
                </a:solidFill>
              </a:rPr>
              <a:t>Body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7" y="3559869"/>
            <a:ext cx="29718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dirty="0"/>
              <a:t>MediaPipe tasks-vision — pose, face, hand, in-browser</a:t>
            </a:r>
            <a:r>
              <a:rPr lang="en-US" dirty="0"/>
              <a:t/>
            </a:r>
            <a:r>
              <a:rPr dirty="0"/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00016"/>
            <a:ext cx="3589578" cy="124175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78765" y="4744999"/>
            <a:ext cx="2423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1" dirty="0">
                <a:solidFill>
                  <a:srgbClr val="0C2744"/>
                </a:solidFill>
              </a:rPr>
              <a:t>      </a:t>
            </a:r>
            <a:r>
              <a:rPr sz="2000" b="1" dirty="0">
                <a:solidFill>
                  <a:srgbClr val="0C2744"/>
                </a:solidFill>
              </a:rPr>
              <a:t>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874" y="5071420"/>
            <a:ext cx="4160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dirty="0" err="1"/>
              <a:t>Vercel (front end) and Render (API), deployed independently</a:t>
            </a:r>
            <a:r>
              <a:rPr dirty="0"/>
              <a:t/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EA2589C-B0E9-5BFE-08F0-ABB50DBB1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492740" y="-6454"/>
            <a:ext cx="1699260" cy="8107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E2A7AC-8252-664A-9733-C96FD9B326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7C227D1-58AF-F848-90AA-3538EB4772EF}"/>
              </a:ext>
            </a:extLst>
          </p:cNvPr>
          <p:cNvSpPr/>
          <p:nvPr/>
        </p:nvSpPr>
        <p:spPr>
          <a:xfrm>
            <a:off x="4407407" y="4644946"/>
            <a:ext cx="3589578" cy="1241756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A1D996-3F46-C14E-9C91-82E42FBDA57B}"/>
              </a:ext>
            </a:extLst>
          </p:cNvPr>
          <p:cNvSpPr/>
          <p:nvPr/>
        </p:nvSpPr>
        <p:spPr>
          <a:xfrm>
            <a:off x="4965120" y="5220849"/>
            <a:ext cx="276148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dirty="0">
                <a:solidFill>
                  <a:srgbClr val="182636"/>
                </a:solidFill>
              </a:rPr>
              <a:t>Candidate-owned, user-scoped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57578" y="4719132"/>
            <a:ext cx="1358430" cy="3131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sz="2000" b="1" dirty="0">
                <a:solidFill>
                  <a:schemeClr val="tx1"/>
                </a:solidFill>
              </a:rPr>
              <a:t>RAG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712" y="389755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Demo — the working path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49580" y="1324849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522543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57029"/>
            <a:ext cx="4754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8213" y="2306040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0C2744"/>
                </a:solidFill>
              </a:rPr>
              <a:t>Open the web app and sign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81651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557029"/>
            <a:ext cx="4754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9257" y="2270937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0C2744"/>
                </a:solidFill>
              </a:rPr>
              <a:t>Submit a resume and target J</a:t>
            </a:r>
            <a:r>
              <a:rPr lang="en-US" sz="2000" b="1" dirty="0">
                <a:solidFill>
                  <a:srgbClr val="0C2744"/>
                </a:solidFill>
              </a:rPr>
              <a:t>ob Description</a:t>
            </a:r>
            <a:endParaRPr sz="2000" b="1" dirty="0">
              <a:solidFill>
                <a:srgbClr val="0C2744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66760" y="2443962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481651"/>
            <a:ext cx="4754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3811" y="2267391"/>
            <a:ext cx="27889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0C2744"/>
                </a:solidFill>
              </a:rPr>
              <a:t>Start an interview; AI asks a role-specific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10451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385829"/>
            <a:ext cx="4754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8213" y="4134840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0C2744"/>
                </a:solidFill>
              </a:rPr>
              <a:t>Answer by voice; observe the follow-up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310451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385829"/>
            <a:ext cx="4754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5541" y="4133804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0C2744"/>
                </a:solidFill>
              </a:rPr>
              <a:t>Show the live camera posture signal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310451"/>
            <a:ext cx="475488" cy="47548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4385829"/>
            <a:ext cx="4754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0301" y="4021064"/>
            <a:ext cx="27889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0C2744"/>
                </a:solidFill>
              </a:rPr>
              <a:t>End the session → report and history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683FA8-97B5-A1E4-EB29-8FE3A2F02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498271" y="-6453"/>
            <a:ext cx="1693729" cy="8081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229B57-E595-0F40-B6DA-4F5E4F414A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220531" y="640080"/>
          <a:ext cx="9750938" cy="6089904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B01717-6EF1-94F8-220E-F225A64935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1366941" y="859536"/>
            <a:ext cx="9458117" cy="59070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1168" y="146304"/>
            <a:ext cx="105156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2800" b="1" dirty="0">
                <a:solidFill>
                  <a:srgbClr val="1F2A44"/>
                </a:solidFill>
              </a:rPr>
              <a:t>Product screens — current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850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122" y="640080"/>
          <a:ext cx="11239756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067D28-8A39-464E-50EB-B78089A9EB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644887" y="859536"/>
            <a:ext cx="10902226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8928243" cy="1551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Practice — live interview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1D6F5C"/>
                </a:solidFill>
                <a:latin typeface="+mn-lt"/>
              </a:rPr>
              <a:t>Working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619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122" y="640080"/>
          <a:ext cx="11239756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611CD-C9B8-535D-F9C3-AB6BB3E8F8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644887" y="859536"/>
            <a:ext cx="10902226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7772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Prepare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1D6F5C"/>
                </a:solidFill>
                <a:latin typeface="+mn-lt"/>
              </a:rPr>
              <a:t>Working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545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122" y="640080"/>
          <a:ext cx="11239756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37668B-2157-B81D-B139-ABF12B752F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644887" y="859536"/>
            <a:ext cx="10902226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7772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Coaching</a:t>
            </a:r>
            <a:r>
              <a:rPr sz="2800" b="1" dirty="0">
                <a:solidFill>
                  <a:srgbClr val="182636"/>
                </a:solidFill>
              </a:rPr>
              <a:t/>
            </a:r>
            <a:r>
              <a:rPr sz="3200" b="1" dirty="0">
                <a:solidFill>
                  <a:srgbClr val="182636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6B6F76"/>
                </a:solidFill>
                <a:latin typeface="+mn-lt"/>
              </a:rPr>
              <a:t>UI built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931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122" y="640080"/>
          <a:ext cx="11239756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17EB3E-8B59-5A02-15BD-D3D139E3E7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644887" y="859536"/>
            <a:ext cx="10902226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7772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Progress</a:t>
            </a:r>
            <a:r>
              <a:rPr sz="2800" b="1" dirty="0">
                <a:solidFill>
                  <a:srgbClr val="182636"/>
                </a:solidFill>
              </a:rPr>
              <a:t/>
            </a:r>
            <a:r>
              <a:rPr sz="3200" b="1" dirty="0">
                <a:solidFill>
                  <a:srgbClr val="182636"/>
                </a:solidFill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1D6F5C"/>
                </a:solidFill>
                <a:latin typeface="+mn-lt"/>
              </a:rPr>
              <a:t>Working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787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30698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496312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45920" y="1956816"/>
            <a:ext cx="530352" cy="530352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021937"/>
            <a:ext cx="53035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18081"/>
            <a:ext cx="2121408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/>
              <a:t>RAG </a:t>
            </a:r>
            <a:r>
              <a:rPr sz="2000" b="1" dirty="0"/>
              <a:t>quality</a:t>
            </a:r>
            <a:r>
              <a:rPr sz="1700" b="1" dirty="0"/>
              <a:t> &amp; coverage</a:t>
            </a:r>
            <a:endParaRPr lang="en-US" sz="17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88265" y="2905204"/>
            <a:ext cx="2543558" cy="2031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dirty="0"/>
              <a:t>
Expand approved sources, hybrid ranking and retrieval evaluation on the </a:t>
            </a:r>
            <a:r>
              <a:rPr dirty="0" err="1"/>
              <a:t>pgvector</a:t>
            </a:r>
            <a:r>
              <a:rPr dirty="0"/>
              <a:t> foundation.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3145536" y="3025881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1691640"/>
            <a:ext cx="2496312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80" y="1956816"/>
            <a:ext cx="530352" cy="530352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021937"/>
            <a:ext cx="53035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81987"/>
            <a:ext cx="212140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/>
              <a:t>Cross-session coaching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3225647"/>
            <a:ext cx="2057399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US" sz="1600" dirty="0"/>
          </a:p>
          <a:p>
            <a:pPr algn="ctr"/>
            <a:r>
              <a:rPr sz="1600" dirty="0"/>
              <a:t>Compare current reports with prior feedback to show measurable improvement over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3025881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691640"/>
            <a:ext cx="2496312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6640" y="1956816"/>
            <a:ext cx="530352" cy="530352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2021937"/>
            <a:ext cx="53035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729017"/>
            <a:ext cx="21214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/>
              <a:t>Offline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8555" y="3264408"/>
            <a:ext cx="2057399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US" sz="1600" dirty="0"/>
          </a:p>
          <a:p>
            <a:pPr algn="ctr"/>
            <a:r>
              <a:rPr sz="1600" dirty="0"/>
              <a:t>Explore smaller local models for lower-cost or offline practice.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3025881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1691640"/>
            <a:ext cx="2496312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87000" y="1956816"/>
            <a:ext cx="530352" cy="530352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87000" y="2021937"/>
            <a:ext cx="53035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729017"/>
            <a:ext cx="21214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/>
              <a:t>Richer rubrics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2996761"/>
            <a:ext cx="2057399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US" sz="1600" dirty="0"/>
          </a:p>
          <a:p>
            <a:pPr algn="ctr"/>
            <a:endParaRPr lang="en-IN" sz="1600" dirty="0"/>
          </a:p>
          <a:p>
            <a:pPr algn="ctr"/>
            <a:r>
              <a:rPr sz="1600" dirty="0"/>
              <a:t>Add more assessment dimensions and stronger behavioral scoring.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40BAEE1-3233-F742-CA4B-28BA0E6D7F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549548" y="-6454"/>
            <a:ext cx="1642452" cy="7836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71B925F-3F2A-E644-844B-BEBDD94278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FE2B83E-4D7C-CA4C-B93F-863A2417FA4C}"/>
              </a:ext>
            </a:extLst>
          </p:cNvPr>
          <p:cNvSpPr/>
          <p:nvPr/>
        </p:nvSpPr>
        <p:spPr>
          <a:xfrm>
            <a:off x="1124561" y="5115397"/>
            <a:ext cx="384048" cy="38404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6334" y="356837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341251"/>
            <a:ext cx="502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 sz="1600" b="1" dirty="0">
              <a:solidFill>
                <a:srgbClr val="C89B4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43000" y="1673352"/>
            <a:ext cx="384048" cy="38404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1696099"/>
            <a:ext cx="384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86955"/>
            <a:ext cx="8778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Role-specific questions from a real resume and job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350008"/>
            <a:ext cx="384048" cy="38404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2372755"/>
            <a:ext cx="384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63611"/>
            <a:ext cx="8778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voice or text conversation over Web</a:t>
            </a:r>
            <a:r>
              <a:rPr lang="en-US"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026664"/>
            <a:ext cx="384048" cy="38404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3049411"/>
            <a:ext cx="384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040267"/>
            <a:ext cx="8778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In-browser body-language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703320"/>
            <a:ext cx="384048" cy="38404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726067"/>
            <a:ext cx="384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6880" y="3726067"/>
            <a:ext cx="8778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structured scoring and coaching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407038"/>
            <a:ext cx="384048" cy="384048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1432" y="4440634"/>
            <a:ext cx="3840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6880" y="4406512"/>
            <a:ext cx="87782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latin typeface="Calibri" panose="020F0502020204030204" pitchFamily="34" charset="0"/>
                <a:cs typeface="Calibri" panose="020F0502020204030204" pitchFamily="34" charset="0"/>
              </a:rPr>
              <a:t>Planned next: coaching workspaces, assessment, settings and data rights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4584" y="5084505"/>
            <a:ext cx="99669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latin typeface="Calibri" panose="020F0502020204030204" pitchFamily="34" charset="0"/>
                <a:cs typeface="Calibri" panose="020F0502020204030204" pitchFamily="34" charset="0"/>
              </a:rPr>
              <a:t>The core journey works today; the remaining screens are built and are being integrated next.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r>
              <a:rPr sz="1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799B03F-9586-3EDE-3ACD-DD1938C8ED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607040" y="-6454"/>
            <a:ext cx="1584960" cy="7562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A0E177-C213-6441-9BEA-C5FF346C1D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F96975-2BC0-9D4C-A1A0-466B51D2CF49}"/>
              </a:ext>
            </a:extLst>
          </p:cNvPr>
          <p:cNvSpPr/>
          <p:nvPr/>
        </p:nvSpPr>
        <p:spPr>
          <a:xfrm>
            <a:off x="1161460" y="5132454"/>
            <a:ext cx="3385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b="1" dirty="0">
                <a:solidFill>
                  <a:srgbClr val="0C274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30240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11155680" y="6310473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 sz="2000" b="1" dirty="0">
              <a:solidFill>
                <a:srgbClr val="C89B4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399" y="1365892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124712" y="161045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946" y="1456569"/>
            <a:ext cx="9235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/>
              <a:t>Lewis et al. — Retrieval-Augmented Generation for Knowledge-Intensive NLP, </a:t>
            </a:r>
            <a:r>
              <a:rPr sz="2000" dirty="0" err="1"/>
              <a:t>NeurIPS</a:t>
            </a:r>
            <a:r>
              <a:rPr sz="2000" dirty="0"/>
              <a:t>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399" y="2143132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124712" y="238769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946" y="2233809"/>
            <a:ext cx="9235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/>
              <a:t>Wei et al. — Chain-of-Thought Prompting Elicits Reasoning in Large Language Models, </a:t>
            </a:r>
            <a:r>
              <a:rPr sz="2000" dirty="0" err="1"/>
              <a:t>NeurIPS</a:t>
            </a:r>
            <a:r>
              <a:rPr sz="2000" dirty="0"/>
              <a:t>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" y="2920372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1124712" y="316493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1946" y="3011050"/>
            <a:ext cx="9235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 err="1"/>
              <a:t>Bazarevsky</a:t>
            </a:r>
            <a:r>
              <a:rPr sz="2000" dirty="0"/>
              <a:t> et al. — </a:t>
            </a:r>
            <a:r>
              <a:rPr sz="2000" dirty="0" err="1"/>
              <a:t>BlazePose</a:t>
            </a:r>
            <a:r>
              <a:rPr sz="2000" dirty="0"/>
              <a:t>: On-device Real-time Body Pose Tracking, arXiv:2006.10204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" y="3669067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124712" y="3942177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946" y="3942177"/>
            <a:ext cx="9235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 err="1"/>
              <a:t>Groq</a:t>
            </a:r>
            <a:r>
              <a:rPr sz="2000" dirty="0"/>
              <a:t> and Google Gemini developer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" y="4446307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124712" y="471941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946" y="4719418"/>
            <a:ext cx="9235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>
                <a:solidFill>
                  <a:srgbClr val="0C2744"/>
                </a:solidFill>
              </a:rPr>
              <a:t>Web Speech API documentation; </a:t>
            </a:r>
            <a:r>
              <a:rPr sz="2000" dirty="0" err="1">
                <a:solidFill>
                  <a:srgbClr val="0C2744"/>
                </a:solidFill>
              </a:rPr>
              <a:t>MediaPipe</a:t>
            </a:r>
            <a:r>
              <a:rPr sz="2000" dirty="0">
                <a:solidFill>
                  <a:srgbClr val="0C2744"/>
                </a:solidFill>
              </a:rPr>
              <a:t> Pose documentation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5BE43E-8228-A1F8-0FCB-92D9AF0A37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789920" y="274320"/>
            <a:ext cx="1402080" cy="669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51E361-E1A7-1640-BD5E-E700E8424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2423170"/>
            <a:ext cx="1092708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 dirty="0">
                <a:solidFill>
                  <a:srgbClr val="0C2744"/>
                </a:solidFill>
                <a:latin typeface="Comic Sans MS" panose="030F0902030302020204" pitchFamily="66" charset="0"/>
              </a:rPr>
              <a:t>Thank 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05356-84BB-5AE5-7E2F-2CD398A731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789920" y="-6453"/>
            <a:ext cx="1402080" cy="66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2D4CC7-6C0B-CD41-ADCE-A85C8DC72D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52265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Current Progress</a:t>
            </a:r>
            <a:r>
              <a:rPr sz="3200" b="0" dirty="0">
                <a:solidFill>
                  <a:srgbClr val="0C2744"/>
                </a:solidFill>
              </a:rPr>
              <a:t/>
            </a:r>
            <a:r>
              <a:rPr sz="3200" b="1" dirty="0">
                <a:solidFill>
                  <a:srgbClr val="0C2744"/>
                </a:solidFill>
              </a:rPr>
              <a:t/>
            </a:r>
            <a:r>
              <a:rPr sz="3200" b="0" dirty="0">
                <a:solidFill>
                  <a:srgbClr val="0C2744"/>
                </a:solidFill>
              </a:rPr>
              <a:t/>
            </a:r>
            <a:r>
              <a:rPr sz="3200" b="1" dirty="0">
                <a:solidFill>
                  <a:srgbClr val="0C2744"/>
                </a:solidFill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08760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422" y="2680398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0C2744"/>
                </a:solidFill>
              </a:rPr>
              <a:t>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706" y="3574049"/>
            <a:ext cx="217165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Prepare, Resume Analyzer, Interview and Coaching run end to end, from sign-in to a written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961873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6552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8214" y="2680398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C2744"/>
                </a:solidFill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98" y="3560317"/>
            <a:ext cx="217165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Indexing and search work; retrieval quality is still being validated on real documents.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961873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24344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24344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6006" y="2680398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C2744"/>
                </a:solidFill>
              </a:rPr>
              <a:t>UI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90" y="3560317"/>
            <a:ext cx="217165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Coaching workspaces, assessment, settings and data rights are designed; the behaviour behind them is still being wired.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961873"/>
            <a:ext cx="438912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0">
                <a:solidFill>
                  <a:srgbClr val="0C2744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1664208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32136" y="1920240"/>
            <a:ext cx="502920" cy="502920"/>
          </a:xfrm>
          <a:prstGeom prst="roundRect">
            <a:avLst/>
          </a:prstGeom>
          <a:solidFill>
            <a:srgbClr val="F1E6D2"/>
          </a:solidFill>
          <a:ln>
            <a:solidFill>
              <a:srgbClr val="F1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32136" y="1971645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2744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665139"/>
            <a:ext cx="21488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0C2744"/>
                </a:solidFill>
              </a:rPr>
              <a:t>Not started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3798" y="3522527"/>
            <a:ext cx="217165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dirty="0"/>
              <a:t>Capacity planning, backup and recovery, and evaluation with real users.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1D7BE10-C948-830B-DF32-69214A4CC4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610873" y="-6453"/>
            <a:ext cx="1581127" cy="75443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292608" y="5760720"/>
            <a:ext cx="11292840" cy="568560"/>
          </a:xfrm>
          <a:prstGeom prst="round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ctr"/>
            <a:r>
              <a:rPr b="0" dirty="0">
                <a:solidFill>
                  <a:srgbClr val="182636"/>
                </a:solidFill>
              </a:rPr>
              <a:t> About 40% of the plan is functional today; the remainder is complete at the interface level and is being integrated next.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6213FC3-DB63-F24E-BE79-5FC5831AB3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122" y="640080"/>
          <a:ext cx="11239756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611CD-C9B8-535D-F9C3-AB6BB3E8F817}"/>
              </a:ext>
            </a:extLst>
          </p:cNvPr>
          <p:cNvPicPr>
            <a:picLocks noChangeAspect="1"/>
          </p:cNvPicPr>
          <p:nvPr/>
        </p:nvPicPr>
        <p:blipFill rotWithShape="1">
          <a:blip r:embed="rId901"/>
          <a:stretch/>
        </p:blipFill>
        <p:spPr>
          <a:xfrm>
            <a:off x="644887" y="859536"/>
            <a:ext cx="10902226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7772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Resume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1D6F5C"/>
                </a:solidFill>
                <a:latin typeface="+mn-lt"/>
              </a:rPr>
              <a:t>Working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545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122" y="640080"/>
          <a:ext cx="11239756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611CD-C9B8-535D-F9C3-AB6BB3E8F817}"/>
              </a:ext>
            </a:extLst>
          </p:cNvPr>
          <p:cNvPicPr>
            <a:picLocks noChangeAspect="1"/>
          </p:cNvPicPr>
          <p:nvPr/>
        </p:nvPicPr>
        <p:blipFill rotWithShape="1">
          <a:blip r:embed="rId902"/>
          <a:stretch/>
        </p:blipFill>
        <p:spPr>
          <a:xfrm>
            <a:off x="644887" y="859536"/>
            <a:ext cx="10902226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7772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A8660B"/>
                </a:solidFill>
                <a:latin typeface="+mn-lt"/>
              </a:rPr>
              <a:t>In progress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545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122" y="640080"/>
          <a:ext cx="11239756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611CD-C9B8-535D-F9C3-AB6BB3E8F817}"/>
              </a:ext>
            </a:extLst>
          </p:cNvPr>
          <p:cNvPicPr>
            <a:picLocks noChangeAspect="1"/>
          </p:cNvPicPr>
          <p:nvPr/>
        </p:nvPicPr>
        <p:blipFill rotWithShape="1">
          <a:blip r:embed="rId903"/>
          <a:stretch/>
        </p:blipFill>
        <p:spPr>
          <a:xfrm>
            <a:off x="644887" y="859536"/>
            <a:ext cx="10902226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7772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6B6F76"/>
                </a:solidFill>
                <a:latin typeface="+mn-lt"/>
              </a:rPr>
              <a:t>UI built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545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220531" y="640080"/>
          <a:ext cx="9750938" cy="6089904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611CD-C9B8-535D-F9C3-AB6BB3E8F817}"/>
              </a:ext>
            </a:extLst>
          </p:cNvPr>
          <p:cNvPicPr>
            <a:picLocks noChangeAspect="1"/>
          </p:cNvPicPr>
          <p:nvPr/>
        </p:nvPicPr>
        <p:blipFill rotWithShape="1">
          <a:blip r:embed="rId904"/>
          <a:stretch/>
        </p:blipFill>
        <p:spPr>
          <a:xfrm>
            <a:off x="1366941" y="859536"/>
            <a:ext cx="9458117" cy="59070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" y="91440"/>
            <a:ext cx="7772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sz="3200" b="1" dirty="0">
                <a:solidFill>
                  <a:srgbClr val="182636"/>
                </a:solidFill>
              </a:rPr>
              <a:t>Settings and data rights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512064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r>
              <a:rPr lang="en-IN" sz="1200" b="1" dirty="0">
                <a:solidFill>
                  <a:srgbClr val="6B6F76"/>
                </a:solidFill>
                <a:latin typeface="+mn-lt"/>
              </a:rPr>
              <a:t>UI built</a:t>
            </a:r>
            <a:endParaRPr sz="1050" b="0" dirty="0">
              <a:solidFill>
                <a:srgbClr val="5C656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36576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Ins="109728" bIns="36576" rtlCol="0" anchor="ctr"/>
          <a:lstStyle/>
          <a:p>
            <a:pPr algn="l"/>
            <a:endParaRPr sz="750" b="0" dirty="0">
              <a:solidFill>
                <a:srgbClr val="5C65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545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30240"/>
            <a:ext cx="10789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0C2744"/>
                </a:solidFill>
              </a:rPr>
              <a:t>Where to find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161288"/>
            <a:ext cx="11292840" cy="10972"/>
          </a:xfrm>
          <a:prstGeom prst="rect">
            <a:avLst/>
          </a:prstGeom>
          <a:solidFill>
            <a:srgbClr val="D7D0C7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11155680" y="6310473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endParaRPr sz="2000" b="1" dirty="0">
              <a:solidFill>
                <a:srgbClr val="C89B4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399" y="1365892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124712" y="161045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946" y="1456569"/>
            <a:ext cx="9235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 u="sng">
                <a:solidFill>
                  <a:srgbClr val="1B6EC2"/>
                </a:solidFill>
                <a:hlinkClick r:id="rId3"/>
              </a:rPr>
              <a:t>Live application — hustlrzz.vercel.app</a:t>
            </a:r>
            <a:r>
              <a:rPr sz="2000" dirty="0" err="1"/>
              <a:t/>
            </a:r>
            <a:r>
              <a:rPr sz="2000" dirty="0"/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399" y="2143132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124712" y="238769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946" y="2233809"/>
            <a:ext cx="9235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 u="sng">
                <a:solidFill>
                  <a:srgbClr val="1B6EC2"/>
                </a:solidFill>
                <a:hlinkClick r:id="rId4"/>
              </a:rPr>
              <a:t>Backend health — hustlrzz-api.onrender.com/health</a:t>
            </a:r>
            <a:r>
              <a:rPr sz="2000" dirty="0" err="1"/>
              <a:t/>
            </a:r>
            <a:r>
              <a:rPr sz="2000" dirty="0"/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" y="2920372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1124712" y="316493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1946" y="3011050"/>
            <a:ext cx="9235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 err="1" u="sng">
                <a:solidFill>
                  <a:srgbClr val="1B6EC2"/>
                </a:solidFill>
                <a:hlinkClick r:id="rId5"/>
              </a:rPr>
              <a:t>Source code — github.com/dgexplores/hustlrzz</a:t>
            </a:r>
            <a:r>
              <a:rPr sz="2000" dirty="0"/>
              <a:t/>
            </a:r>
            <a:r>
              <a:rPr sz="2000" dirty="0" err="1"/>
              <a:t/>
            </a:r>
            <a:r>
              <a:rPr sz="2000" dirty="0"/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" y="3669067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124712" y="3942177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946" y="3942177"/>
            <a:ext cx="9235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 err="1"/>
              <a:t>Interface gallery — docs/images_project/ (16 screens, live deployment)</a:t>
            </a:r>
            <a:r>
              <a:rPr sz="2000" dirty="0"/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" y="4446307"/>
            <a:ext cx="10500189" cy="856945"/>
          </a:xfrm>
          <a:prstGeom prst="roundRect">
            <a:avLst/>
          </a:prstGeom>
          <a:solidFill>
            <a:srgbClr val="FFFFFF"/>
          </a:solidFill>
          <a:ln>
            <a:solidFill>
              <a:srgbClr val="D7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124712" y="4719418"/>
            <a:ext cx="44723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/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946" y="4719418"/>
            <a:ext cx="9235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dirty="0">
                <a:solidFill>
                  <a:srgbClr val="0C2744"/>
                </a:solidFill>
              </a:rPr>
              <a:t>Verification — 249 backend tests and 141 frontend tests, all passing</a:t>
            </a:r>
            <a:r>
              <a:rPr sz="2000" dirty="0" err="1">
                <a:solidFill>
                  <a:srgbClr val="0C2744"/>
                </a:solidFill>
              </a:rPr>
              <a:t/>
            </a:r>
            <a:r>
              <a:rPr sz="2000" dirty="0">
                <a:solidFill>
                  <a:srgbClr val="0C2744"/>
                </a:solidFill>
              </a:rPr>
              <a:t/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5BE43E-8228-A1F8-0FCB-92D9AF0A37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789920" y="274320"/>
            <a:ext cx="1402080" cy="669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51E361-E1A7-1640-BD5E-E700E8424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05" b="27681"/>
          <a:stretch/>
        </p:blipFill>
        <p:spPr>
          <a:xfrm>
            <a:off x="10017302" y="0"/>
            <a:ext cx="2174697" cy="10376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912</Words>
  <Application>Microsoft Macintosh PowerPoint</Application>
  <PresentationFormat>Widescreen</PresentationFormat>
  <Paragraphs>190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HUSTLRZZ V2 — AI Mock Interview Coach</dc:title>
  <dc:subject>Updated final project presentation with implemented RAG</dc:subject>
  <dc:creator/>
  <cp:keywords/>
  <dc:description>generated using python-pptx</dc:description>
  <cp:lastModifiedBy>Ramesh Rastogi</cp:lastModifiedBy>
  <cp:revision>12</cp:revision>
  <dcterms:created xsi:type="dcterms:W3CDTF">2013-01-27T09:14:16Z</dcterms:created>
  <dcterms:modified xsi:type="dcterms:W3CDTF">2026-08-10T09:01:50Z</dcterms:modified>
  <cp:category/>
</cp:coreProperties>
</file>